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69" r:id="rId4"/>
    <p:sldId id="259" r:id="rId5"/>
    <p:sldId id="267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47874-454F-7E85-0045-4A7B4B5A6305}" v="46" dt="2026-01-21T17:18:08.317"/>
    <p1510:client id="{66EB9458-32A4-9C26-D2D5-D9EBAA7AD68F}" v="442" dt="2026-01-20T17:19:00.188"/>
    <p1510:client id="{A72146E9-A7BA-9324-5B9A-3E3427A93F94}" v="261" dt="2026-01-21T10:28:42.216"/>
    <p1510:client id="{BC1D3ACF-49A2-294D-8A6D-3286D014C47D}" v="3" dt="2026-01-21T13:05:23.487"/>
    <p1510:client id="{FF24BCC5-8D8D-C9EA-8D2C-B150EEC878D0}" v="15" dt="2026-01-22T10:24:03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4403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156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5844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903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931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425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850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7711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146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245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0894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>
                <a:ea typeface="Calibri Light"/>
                <a:cs typeface="Calibri Light"/>
              </a:rPr>
              <a:t>DogTreats</a:t>
            </a:r>
            <a:endParaRPr lang="de-DE" err="1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0" rIns="91440" bIns="45720" rtlCol="0" anchor="t">
            <a:normAutofit/>
          </a:bodyPr>
          <a:lstStyle/>
          <a:p>
            <a:pPr algn="l"/>
            <a:r>
              <a:rPr lang="de-DE" err="1">
                <a:ea typeface="+mn-lt"/>
                <a:cs typeface="+mn-lt"/>
              </a:rPr>
              <a:t>Full</a:t>
            </a:r>
            <a:r>
              <a:rPr lang="de-DE">
                <a:ea typeface="+mn-lt"/>
                <a:cs typeface="+mn-lt"/>
              </a:rPr>
              <a:t>-Stack Web Development</a:t>
            </a:r>
            <a:endParaRPr lang="de-DE"/>
          </a:p>
          <a:p>
            <a:pPr algn="l"/>
            <a:r>
              <a:rPr lang="de-DE"/>
              <a:t>Projekt von Tim Mees und Paul </a:t>
            </a:r>
            <a:r>
              <a:rPr lang="de-DE" err="1"/>
              <a:t>Jauert</a:t>
            </a:r>
            <a:endParaRPr lang="de-DE"/>
          </a:p>
          <a:p>
            <a:pPr algn="l"/>
            <a:r>
              <a:rPr lang="de-DE"/>
              <a:t>Dozent: Prof. Dr. Alexander Eck</a:t>
            </a:r>
          </a:p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75E88C-7767-45D2-D79B-2A0B6D6D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ea typeface="Calibri Light"/>
                <a:cs typeface="Calibri Light"/>
              </a:rPr>
              <a:t>Gliederung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50BC68-4594-DF7F-393C-8FC208BB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/>
              <a:t>Value </a:t>
            </a:r>
            <a:r>
              <a:rPr lang="de-DE" sz="2000" err="1"/>
              <a:t>proposition</a:t>
            </a:r>
            <a:endParaRPr lang="de-DE" sz="2000"/>
          </a:p>
          <a:p>
            <a:r>
              <a:rPr lang="de-DE" sz="2000"/>
              <a:t>Funktionen der Anwendung: "</a:t>
            </a:r>
            <a:r>
              <a:rPr lang="de-DE" sz="2000" err="1"/>
              <a:t>HappyPath</a:t>
            </a:r>
            <a:r>
              <a:rPr lang="de-DE" sz="2000"/>
              <a:t>", Code-Showcase</a:t>
            </a:r>
          </a:p>
          <a:p>
            <a:r>
              <a:rPr lang="de-DE" sz="2000"/>
              <a:t>Design </a:t>
            </a:r>
            <a:r>
              <a:rPr lang="de-DE" sz="2000" err="1"/>
              <a:t>Decisions</a:t>
            </a:r>
            <a:r>
              <a:rPr lang="de-DE" sz="2000"/>
              <a:t> </a:t>
            </a:r>
          </a:p>
          <a:p>
            <a:r>
              <a:rPr lang="de-DE" sz="2000" err="1"/>
              <a:t>Scope</a:t>
            </a:r>
            <a:r>
              <a:rPr lang="de-DE" sz="2000"/>
              <a:t> and </a:t>
            </a:r>
            <a:r>
              <a:rPr lang="de-DE" sz="2000" err="1"/>
              <a:t>priorities</a:t>
            </a:r>
            <a:r>
              <a:rPr lang="de-DE" sz="2000"/>
              <a:t> </a:t>
            </a:r>
            <a:r>
              <a:rPr lang="de-DE" sz="2000" err="1"/>
              <a:t>until</a:t>
            </a:r>
            <a:r>
              <a:rPr lang="de-DE" sz="2000"/>
              <a:t> </a:t>
            </a:r>
            <a:r>
              <a:rPr lang="de-DE" sz="2000" err="1"/>
              <a:t>submission</a:t>
            </a:r>
            <a:endParaRPr lang="de-DE" sz="200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E382B0-DA17-8F7B-BD23-E31F8064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78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AEDA1-163A-B407-2721-9EBB8C53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Value Proposition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159FCC-7FC6-B19B-4036-7F6376028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>
                <a:ea typeface="+mn-lt"/>
                <a:cs typeface="+mn-lt"/>
              </a:rPr>
              <a:t>Problem: Hundebesitzer oft unsicher, welches Futter zu ihren Hunden passt</a:t>
            </a:r>
          </a:p>
          <a:p>
            <a:r>
              <a:rPr lang="de-DE">
                <a:ea typeface="+mn-lt"/>
                <a:cs typeface="+mn-lt"/>
              </a:rPr>
              <a:t>Individuell abgestimmte Hundeernährung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>
                <a:ea typeface="+mn-lt"/>
                <a:cs typeface="+mn-lt"/>
              </a:rPr>
              <a:t>Zusammenstellung von personalisierten Abo-Paketen</a:t>
            </a:r>
          </a:p>
          <a:p>
            <a:pPr lvl="1">
              <a:buFont typeface="Courier New" pitchFamily="34" charset="0"/>
              <a:buChar char="o"/>
            </a:pPr>
            <a:r>
              <a:rPr lang="de-DE">
                <a:ea typeface="+mn-lt"/>
                <a:cs typeface="+mn-lt"/>
              </a:rPr>
              <a:t>Personalisierte Empfehlung </a:t>
            </a:r>
            <a:r>
              <a:rPr lang="de-DE">
                <a:ea typeface="+mn-lt"/>
                <a:cs typeface="+mn-lt"/>
                <a:sym typeface="Wingdings" pitchFamily="2" charset="2"/>
              </a:rPr>
              <a:t> </a:t>
            </a:r>
            <a:r>
              <a:rPr lang="de-DE">
                <a:ea typeface="+mn-lt"/>
                <a:cs typeface="+mn-lt"/>
              </a:rPr>
              <a:t>Abgestimmt auf Alter, Rasse, Größe, Besonderheiten</a:t>
            </a:r>
          </a:p>
          <a:p>
            <a:pPr lvl="1">
              <a:buFont typeface="Courier New" pitchFamily="34" charset="0"/>
              <a:buChar char="o"/>
            </a:pPr>
            <a:r>
              <a:rPr lang="de-DE">
                <a:ea typeface="+mn-lt"/>
                <a:cs typeface="+mn-lt"/>
              </a:rPr>
              <a:t>Wiederkehrende Lieferung spart Aufwand und Zeit</a:t>
            </a:r>
            <a:br>
              <a:rPr lang="de-DE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  <a:sym typeface="Wingdings" pitchFamily="2" charset="2"/>
              </a:rPr>
              <a:t> Fokus auf Bequemlichkeit und Planbarkeit</a:t>
            </a:r>
            <a:endParaRPr lang="de-DE">
              <a:ea typeface="+mn-lt"/>
              <a:cs typeface="+mn-lt"/>
            </a:endParaRPr>
          </a:p>
          <a:p>
            <a:r>
              <a:rPr lang="de-DE">
                <a:ea typeface="+mn-lt"/>
                <a:cs typeface="+mn-lt"/>
              </a:rPr>
              <a:t>hochwertige Bio-Hundeprodukte aus regionaler Herstellung</a:t>
            </a:r>
          </a:p>
          <a:p>
            <a:r>
              <a:rPr lang="de-DE"/>
              <a:t>Bequeme und flexible Abo-Lösung: können angepasst, pausiert oder gekündigt werden </a:t>
            </a:r>
            <a:r>
              <a:rPr lang="de-DE">
                <a:sym typeface="Wingdings" pitchFamily="2" charset="2"/>
              </a:rPr>
              <a:t> keine langfristige Bindung</a:t>
            </a:r>
          </a:p>
          <a:p>
            <a:pPr marL="45720" indent="0">
              <a:buNone/>
            </a:pPr>
            <a:endParaRPr lang="de-DE">
              <a:sym typeface="Wingdings" pitchFamily="2" charset="2"/>
            </a:endParaRPr>
          </a:p>
          <a:p>
            <a:pPr marL="45720" indent="0">
              <a:buNone/>
            </a:pPr>
            <a:r>
              <a:rPr lang="de-DE">
                <a:sym typeface="Wingdings" pitchFamily="2" charset="2"/>
              </a:rPr>
              <a:t>Kombination aus Personalisierung und maximaler Flexibilität </a:t>
            </a:r>
            <a:endParaRPr lang="de-DE"/>
          </a:p>
          <a:p>
            <a:endParaRPr lang="de-DE" b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CF0D91-2223-30AB-FD25-D06446C0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46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9AC28A-4E10-62C1-9207-3CC2C0FD0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27" y="1154365"/>
            <a:ext cx="9966960" cy="2926080"/>
          </a:xfrm>
        </p:spPr>
        <p:txBody>
          <a:bodyPr/>
          <a:lstStyle/>
          <a:p>
            <a:r>
              <a:rPr lang="de-DE" sz="4400"/>
              <a:t>Funktionen der Anwendung: </a:t>
            </a:r>
            <a:r>
              <a:rPr lang="de-DE" sz="4400" err="1"/>
              <a:t>HappyPath</a:t>
            </a:r>
            <a:r>
              <a:rPr lang="de-DE" sz="4400"/>
              <a:t>, Code-Showcase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A4B685-687A-68BD-0B82-D3B49ABDA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9928" y="4077680"/>
            <a:ext cx="8769096" cy="1363806"/>
          </a:xfrm>
        </p:spPr>
        <p:txBody>
          <a:bodyPr/>
          <a:lstStyle/>
          <a:p>
            <a:r>
              <a:rPr lang="de-DE" sz="1200" b="1">
                <a:solidFill>
                  <a:schemeClr val="tx1"/>
                </a:solidFill>
                <a:ea typeface="+mn-lt"/>
                <a:cs typeface="+mn-lt"/>
              </a:rPr>
              <a:t>&lt;code&gt;</a:t>
            </a:r>
            <a:endParaRPr lang="de-DE">
              <a:solidFill>
                <a:schemeClr val="tx1"/>
              </a:solidFill>
              <a:ea typeface="+mn-lt"/>
              <a:cs typeface="+mn-lt"/>
            </a:endParaRPr>
          </a:p>
          <a:p>
            <a:endParaRPr lang="de-DE" sz="1200" b="1">
              <a:solidFill>
                <a:srgbClr val="EEF0FF"/>
              </a:solidFill>
              <a:highlight>
                <a:srgbClr val="1C1E24"/>
              </a:highlight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28AC2B-3F86-96CE-7A8E-12FD231B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99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5E38A-459E-28D4-6159-73FA8207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C4BE7A-2BA4-BFBF-FE24-D69BE6DE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Design </a:t>
            </a:r>
            <a:r>
              <a:rPr lang="de-DE" err="1"/>
              <a:t>Decisions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9D054A-1904-C545-3640-C646497E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dirty="0" err="1"/>
              <a:t>Flask</a:t>
            </a:r>
            <a:r>
              <a:rPr lang="de-DE" dirty="0"/>
              <a:t> + SQLite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 err="1"/>
              <a:t>Flask</a:t>
            </a:r>
            <a:r>
              <a:rPr lang="de-DE" dirty="0"/>
              <a:t>: klare Trennung von Routen und Templates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/>
              <a:t>Einfache Nachvollziehbarkeit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/>
              <a:t>SQLite: serverlos, dateibasiert </a:t>
            </a:r>
            <a:r>
              <a:rPr lang="de-DE" dirty="0">
                <a:sym typeface="Wingdings" pitchFamily="2" charset="2"/>
              </a:rPr>
              <a:t> keine Installation oder Konfiguration notwendig</a:t>
            </a:r>
            <a:endParaRPr lang="de-DE" dirty="0"/>
          </a:p>
          <a:p>
            <a:r>
              <a:rPr lang="de-DE" dirty="0"/>
              <a:t>Login-Status benötigt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Nutzerbereich verwalten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/>
              <a:t>Session-basierte Authentifizierung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/>
              <a:t>Persönliche Daten hinterlegen </a:t>
            </a:r>
            <a:r>
              <a:rPr lang="de-DE" dirty="0">
                <a:sym typeface="Wingdings" pitchFamily="2" charset="2"/>
              </a:rPr>
              <a:t> Login zwingend erforderlich </a:t>
            </a:r>
            <a:endParaRPr lang="de-DE" dirty="0"/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>
                <a:ea typeface="+mn-lt"/>
                <a:cs typeface="+mn-lt"/>
              </a:rPr>
              <a:t>Login-Zustand wird über </a:t>
            </a:r>
            <a:r>
              <a:rPr lang="de-DE" dirty="0" err="1">
                <a:ea typeface="+mn-lt"/>
                <a:cs typeface="+mn-lt"/>
              </a:rPr>
              <a:t>Flask</a:t>
            </a:r>
            <a:r>
              <a:rPr lang="de-DE" dirty="0">
                <a:ea typeface="+mn-lt"/>
                <a:cs typeface="+mn-lt"/>
              </a:rPr>
              <a:t> Sessions gespeichert</a:t>
            </a:r>
          </a:p>
          <a:p>
            <a:r>
              <a:rPr lang="de-DE" dirty="0"/>
              <a:t>Einfacher Aufbau der Abo-Empfehlungen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/>
              <a:t>Simples Punktesystem </a:t>
            </a:r>
          </a:p>
          <a:p>
            <a:pPr lvl="1">
              <a:spcAft>
                <a:spcPts val="0"/>
              </a:spcAft>
              <a:buFont typeface="Courier New" pitchFamily="34" charset="0"/>
              <a:buChar char="o"/>
            </a:pPr>
            <a:r>
              <a:rPr lang="de-DE" dirty="0"/>
              <a:t>Faktoren wie Alter, Größe, Besonderheiten </a:t>
            </a:r>
          </a:p>
          <a:p>
            <a:pPr marL="45720" indent="0">
              <a:spcAft>
                <a:spcPts val="0"/>
              </a:spcAft>
              <a:buNone/>
            </a:pPr>
            <a:r>
              <a:rPr lang="de-DE" dirty="0"/>
              <a:t>Designentscheidungen auf Erweiterbarkeit und Nachvollziehbarkeit ausgelegt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994AA8-0104-4209-2D92-F5508703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91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1F9C8-6E61-C0A2-D400-5B84B8068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Fokus bis zur Abgabe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6B9AD-BC49-3DF4-0E08-4558C45C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55694"/>
            <a:ext cx="9872871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de-DE" dirty="0"/>
              <a:t>Must-Have:</a:t>
            </a:r>
          </a:p>
          <a:p>
            <a:r>
              <a:rPr lang="de-DE" dirty="0"/>
              <a:t>Logik nach Abschließen eines Abos hinzufügen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de-DE" dirty="0"/>
              <a:t>Dokumentation vervollständigen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de-DE" dirty="0"/>
              <a:t>Design der Webseite verbessern (Bootstrap)</a:t>
            </a:r>
          </a:p>
          <a:p>
            <a:pPr marL="45720" indent="0">
              <a:buNone/>
            </a:pPr>
            <a:endParaRPr lang="de-DE"/>
          </a:p>
          <a:p>
            <a:pPr marL="45720" indent="0">
              <a:buNone/>
            </a:pPr>
            <a:r>
              <a:rPr lang="de-DE" dirty="0"/>
              <a:t>Nice-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Have</a:t>
            </a:r>
            <a:r>
              <a:rPr lang="de-DE" dirty="0"/>
              <a:t>:</a:t>
            </a:r>
          </a:p>
          <a:p>
            <a:pPr marL="388620" indent="-342900"/>
            <a:r>
              <a:rPr lang="de-DE" dirty="0"/>
              <a:t>Accounts mit E-Mail-Adresse linken</a:t>
            </a:r>
          </a:p>
          <a:p>
            <a:pPr marL="388620" indent="-342900"/>
            <a:r>
              <a:rPr lang="de-DE" dirty="0"/>
              <a:t>Größere Auswahl an Abos, Customizing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2BE408-80C9-1724-4FB0-76DFCD33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01533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6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Basis</vt:lpstr>
      <vt:lpstr>DogTreats</vt:lpstr>
      <vt:lpstr>Gliederung</vt:lpstr>
      <vt:lpstr>Value Proposition</vt:lpstr>
      <vt:lpstr>Funktionen der Anwendung: HappyPath, Code-Showcase</vt:lpstr>
      <vt:lpstr>Design Decisions</vt:lpstr>
      <vt:lpstr>Fokus bis zur Abgabe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DogTreats</dc:title>
  <dc:creator/>
  <cp:revision>16</cp:revision>
  <dcterms:created xsi:type="dcterms:W3CDTF">2026-01-20T16:43:30Z</dcterms:created>
  <dcterms:modified xsi:type="dcterms:W3CDTF">2026-01-22T10:41:20Z</dcterms:modified>
</cp:coreProperties>
</file>